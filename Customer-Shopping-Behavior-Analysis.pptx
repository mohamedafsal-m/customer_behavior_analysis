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etrona"/>
      <p:regular r:id="rId17"/>
    </p:embeddedFont>
    <p:embeddedFont>
      <p:font typeface="Petrona"/>
      <p:regular r:id="rId18"/>
    </p:embeddedFont>
    <p:embeddedFont>
      <p:font typeface="Petrona"/>
      <p:regular r:id="rId19"/>
    </p:embeddedFont>
    <p:embeddedFont>
      <p:font typeface="Petrona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1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02136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Shopping Behavior Analysis</a:t>
            </a:r>
            <a:endParaRPr lang="en-US" sz="4900" dirty="0"/>
          </a:p>
        </p:txBody>
      </p:sp>
      <p:sp>
        <p:nvSpPr>
          <p:cNvPr id="4" name="Text 1"/>
          <p:cNvSpPr/>
          <p:nvPr/>
        </p:nvSpPr>
        <p:spPr>
          <a:xfrm>
            <a:off x="6280190" y="470154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71387" y="468035"/>
            <a:ext cx="1717953" cy="284559"/>
          </a:xfrm>
          <a:prstGeom prst="roundRect">
            <a:avLst>
              <a:gd name="adj" fmla="val 19658"/>
            </a:avLst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71161" y="543758"/>
            <a:ext cx="133112" cy="1331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0829" y="517922"/>
            <a:ext cx="1318736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OVERVIEW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571387" y="801410"/>
            <a:ext cx="4578310" cy="572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Foundation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571387" y="1640086"/>
            <a:ext cx="3727371" cy="549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4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3,900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2290524" y="2364224"/>
            <a:ext cx="228909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Purchases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71387" y="2723555"/>
            <a:ext cx="3727371" cy="23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 analyzed across all categories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51396" y="1640086"/>
            <a:ext cx="3727371" cy="549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4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18</a:t>
            </a:r>
            <a:endParaRPr lang="en-US" sz="4300" dirty="0"/>
          </a:p>
        </p:txBody>
      </p:sp>
      <p:sp>
        <p:nvSpPr>
          <p:cNvPr id="10" name="Text 7"/>
          <p:cNvSpPr/>
          <p:nvPr/>
        </p:nvSpPr>
        <p:spPr>
          <a:xfrm>
            <a:off x="6170533" y="2364224"/>
            <a:ext cx="228909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Points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51396" y="2723555"/>
            <a:ext cx="3727371" cy="23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per customer transaction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331404" y="1640086"/>
            <a:ext cx="3727371" cy="549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4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50</a:t>
            </a:r>
            <a:endParaRPr lang="en-US" sz="4300" dirty="0"/>
          </a:p>
        </p:txBody>
      </p:sp>
      <p:sp>
        <p:nvSpPr>
          <p:cNvPr id="13" name="Text 10"/>
          <p:cNvSpPr/>
          <p:nvPr/>
        </p:nvSpPr>
        <p:spPr>
          <a:xfrm>
            <a:off x="10050542" y="2364224"/>
            <a:ext cx="228909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Locations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331404" y="2723555"/>
            <a:ext cx="3727371" cy="230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Geographic coverage across regions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387" y="3229213"/>
            <a:ext cx="7324725" cy="439483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309735" y="4707731"/>
            <a:ext cx="2827377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Features Captured</a:t>
            </a:r>
            <a:endParaRPr lang="en-US" sz="2150" dirty="0"/>
          </a:p>
        </p:txBody>
      </p:sp>
      <p:sp>
        <p:nvSpPr>
          <p:cNvPr id="17" name="Text 13"/>
          <p:cNvSpPr/>
          <p:nvPr/>
        </p:nvSpPr>
        <p:spPr>
          <a:xfrm>
            <a:off x="9309735" y="5173147"/>
            <a:ext cx="3756660" cy="923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demographics and location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details and product categories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Shopping behavior and preferences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ratings and shipping choices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87103"/>
            <a:ext cx="2267903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6237C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498" y="1717119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9675" y="1662708"/>
            <a:ext cx="17083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623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ANALYSIS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119313"/>
            <a:ext cx="8195072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Preparation &amp; Cleaning</a:t>
            </a:r>
            <a:endParaRPr lang="en-US" sz="4900" dirty="0"/>
          </a:p>
        </p:txBody>
      </p:sp>
      <p:sp>
        <p:nvSpPr>
          <p:cNvPr id="6" name="Text 3"/>
          <p:cNvSpPr/>
          <p:nvPr/>
        </p:nvSpPr>
        <p:spPr>
          <a:xfrm>
            <a:off x="793790" y="323909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3594140"/>
            <a:ext cx="6407944" cy="3048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8" name="Text 5"/>
          <p:cNvSpPr/>
          <p:nvPr/>
        </p:nvSpPr>
        <p:spPr>
          <a:xfrm>
            <a:off x="793790" y="3768447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Loading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793790" y="429446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dataset using pandas for initial exploration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428548" y="323909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428548" y="3594140"/>
            <a:ext cx="6408063" cy="3048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2" name="Text 9"/>
          <p:cNvSpPr/>
          <p:nvPr/>
        </p:nvSpPr>
        <p:spPr>
          <a:xfrm>
            <a:off x="7428548" y="3768447"/>
            <a:ext cx="328267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Missing Data Handling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7428548" y="4294465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37 missing review ratings using category medians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793790" y="50542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793790" y="5409248"/>
            <a:ext cx="6407944" cy="3048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16" name="Text 13"/>
          <p:cNvSpPr/>
          <p:nvPr/>
        </p:nvSpPr>
        <p:spPr>
          <a:xfrm>
            <a:off x="793790" y="5583555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</a:t>
            </a:r>
            <a:endParaRPr lang="en-US" sz="2450" dirty="0"/>
          </a:p>
        </p:txBody>
      </p:sp>
      <p:sp>
        <p:nvSpPr>
          <p:cNvPr id="17" name="Text 14"/>
          <p:cNvSpPr/>
          <p:nvPr/>
        </p:nvSpPr>
        <p:spPr>
          <a:xfrm>
            <a:off x="793790" y="6109573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age groups and purchase frequency metrics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7428548" y="505420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9" name="Shape 16"/>
          <p:cNvSpPr/>
          <p:nvPr/>
        </p:nvSpPr>
        <p:spPr>
          <a:xfrm>
            <a:off x="7428548" y="5409248"/>
            <a:ext cx="6408063" cy="30480"/>
          </a:xfrm>
          <a:prstGeom prst="rect">
            <a:avLst/>
          </a:prstGeom>
          <a:solidFill>
            <a:srgbClr val="6237C8"/>
          </a:solidFill>
          <a:ln/>
        </p:spPr>
      </p:sp>
      <p:sp>
        <p:nvSpPr>
          <p:cNvPr id="20" name="Text 17"/>
          <p:cNvSpPr/>
          <p:nvPr/>
        </p:nvSpPr>
        <p:spPr>
          <a:xfrm>
            <a:off x="7428548" y="5583555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 Integration</a:t>
            </a:r>
            <a:endParaRPr lang="en-US" sz="2450" dirty="0"/>
          </a:p>
        </p:txBody>
      </p:sp>
      <p:sp>
        <p:nvSpPr>
          <p:cNvPr id="21" name="Text 18"/>
          <p:cNvSpPr/>
          <p:nvPr/>
        </p:nvSpPr>
        <p:spPr>
          <a:xfrm>
            <a:off x="7428548" y="6109573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to MySQL for advanced SQL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35368"/>
            <a:ext cx="631007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 Business Insights</a:t>
            </a:r>
            <a:endParaRPr lang="en-US" sz="4900" dirty="0"/>
          </a:p>
        </p:txBody>
      </p:sp>
      <p:sp>
        <p:nvSpPr>
          <p:cNvPr id="4" name="Text 1"/>
          <p:cNvSpPr/>
          <p:nvPr/>
        </p:nvSpPr>
        <p:spPr>
          <a:xfrm>
            <a:off x="793790" y="215515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key questions answered through structured database analysis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773204"/>
            <a:ext cx="2367558" cy="2836426"/>
          </a:xfrm>
          <a:prstGeom prst="roundRect">
            <a:avLst>
              <a:gd name="adj" fmla="val 402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8224" y="3007638"/>
            <a:ext cx="1898690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Analysis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1028224" y="3923586"/>
            <a:ext cx="18986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 comparison and spending patterns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3388162" y="2773204"/>
            <a:ext cx="2367558" cy="2836426"/>
          </a:xfrm>
          <a:prstGeom prst="roundRect">
            <a:avLst>
              <a:gd name="adj" fmla="val 402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22596" y="3007638"/>
            <a:ext cx="1898690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Segments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3622596" y="3923586"/>
            <a:ext cx="18986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New, returning, and loyal classifications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2533" y="2773204"/>
            <a:ext cx="2367558" cy="2836426"/>
          </a:xfrm>
          <a:prstGeom prst="roundRect">
            <a:avLst>
              <a:gd name="adj" fmla="val 402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6968" y="3007638"/>
            <a:ext cx="1898690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Performance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6216968" y="3923586"/>
            <a:ext cx="18986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Top-rated items and category leaders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5836444"/>
            <a:ext cx="7556302" cy="1357789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8224" y="6070878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 Impact</a:t>
            </a:r>
            <a:endParaRPr lang="en-US" sz="2450" dirty="0"/>
          </a:p>
        </p:txBody>
      </p:sp>
      <p:sp>
        <p:nvSpPr>
          <p:cNvPr id="16" name="Text 13"/>
          <p:cNvSpPr/>
          <p:nvPr/>
        </p:nvSpPr>
        <p:spPr>
          <a:xfrm>
            <a:off x="1028224" y="6596896"/>
            <a:ext cx="70874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High-spending discount user behavior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0242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Gender</a:t>
            </a:r>
            <a:endParaRPr lang="en-US" sz="4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55175"/>
            <a:ext cx="8284131" cy="43817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52649" y="676739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1D113C"/>
          </a:solidFill>
          <a:ln/>
        </p:spPr>
      </p:sp>
      <p:sp>
        <p:nvSpPr>
          <p:cNvPr id="5" name="Text 2"/>
          <p:cNvSpPr/>
          <p:nvPr/>
        </p:nvSpPr>
        <p:spPr>
          <a:xfrm>
            <a:off x="4340423" y="6767393"/>
            <a:ext cx="51923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5012055" y="676739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683FCA"/>
          </a:solidFill>
          <a:ln/>
        </p:spPr>
      </p:sp>
      <p:sp>
        <p:nvSpPr>
          <p:cNvPr id="7" name="Text 4"/>
          <p:cNvSpPr/>
          <p:nvPr/>
        </p:nvSpPr>
        <p:spPr>
          <a:xfrm>
            <a:off x="5299829" y="6767393"/>
            <a:ext cx="7699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638943" y="2551271"/>
            <a:ext cx="4205168" cy="935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Male Customers Drive Revenue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9638943" y="3713440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68% of total revenue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contributing $157,890 compared to $75,191 from female customers.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38943" y="5369123"/>
            <a:ext cx="420516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significant gap suggests opportunities for targeted marketing to increase female customer engagement and spending.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5083" y="388144"/>
            <a:ext cx="1679377" cy="223957"/>
          </a:xfrm>
          <a:prstGeom prst="roundRect">
            <a:avLst>
              <a:gd name="adj" fmla="val 20657"/>
            </a:avLst>
          </a:prstGeom>
          <a:solidFill>
            <a:srgbClr val="E0D7F4"/>
          </a:solidFill>
          <a:ln/>
        </p:spPr>
      </p:sp>
      <p:sp>
        <p:nvSpPr>
          <p:cNvPr id="3" name="Text 1"/>
          <p:cNvSpPr/>
          <p:nvPr/>
        </p:nvSpPr>
        <p:spPr>
          <a:xfrm>
            <a:off x="2647593" y="429339"/>
            <a:ext cx="1514356" cy="141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565083" y="645438"/>
            <a:ext cx="3786188" cy="473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Loyalty Distribution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3266837" y="2138839"/>
            <a:ext cx="1693307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80%</a:t>
            </a:r>
            <a:endParaRPr lang="en-US" sz="2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0980" y="1278374"/>
            <a:ext cx="2065139" cy="20651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67063" y="3461385"/>
            <a:ext cx="1893094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 Customers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565083" y="3748088"/>
            <a:ext cx="3097054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3,116 customers with 5+ purchases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68308" y="2138839"/>
            <a:ext cx="1693307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18%</a:t>
            </a:r>
            <a:endParaRPr lang="en-US" sz="2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452" y="1278374"/>
            <a:ext cx="2065139" cy="206513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68534" y="3461385"/>
            <a:ext cx="1893094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Returning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766554" y="3748088"/>
            <a:ext cx="3097054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701 customers with repeat purchases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9669899" y="2138839"/>
            <a:ext cx="1693307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2%</a:t>
            </a:r>
            <a:endParaRPr lang="en-US" sz="27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043" y="1278374"/>
            <a:ext cx="2065139" cy="20651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570006" y="3461385"/>
            <a:ext cx="1893094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New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8968026" y="3748088"/>
            <a:ext cx="3097173" cy="176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 first-time buyers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083" y="4112895"/>
            <a:ext cx="6057543" cy="36345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66002" y="5420439"/>
            <a:ext cx="2298502" cy="236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Strong Loyalty Foundation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966002" y="5740479"/>
            <a:ext cx="3106698" cy="70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majority of customers are loyal repeat buyers, indicating strong retention. Focus on converting the 18% returning segment into loyal customers.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0242"/>
            <a:ext cx="8190786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Status Analysis</a:t>
            </a:r>
            <a:endParaRPr lang="en-US" sz="4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55175"/>
            <a:ext cx="8284131" cy="395847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08878" y="6313646"/>
            <a:ext cx="226814" cy="226814"/>
          </a:xfrm>
          <a:prstGeom prst="roundRect">
            <a:avLst>
              <a:gd name="adj" fmla="val 8063"/>
            </a:avLst>
          </a:prstGeom>
          <a:solidFill>
            <a:srgbClr val="1D113C"/>
          </a:solidFill>
          <a:ln/>
        </p:spPr>
      </p:sp>
      <p:sp>
        <p:nvSpPr>
          <p:cNvPr id="5" name="Text 2"/>
          <p:cNvSpPr/>
          <p:nvPr/>
        </p:nvSpPr>
        <p:spPr>
          <a:xfrm>
            <a:off x="3696653" y="6313646"/>
            <a:ext cx="11630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5012055" y="6313646"/>
            <a:ext cx="226814" cy="226814"/>
          </a:xfrm>
          <a:prstGeom prst="roundRect">
            <a:avLst>
              <a:gd name="adj" fmla="val 8063"/>
            </a:avLst>
          </a:prstGeom>
          <a:solidFill>
            <a:srgbClr val="512EA6"/>
          </a:solidFill>
          <a:ln/>
        </p:spPr>
      </p:sp>
      <p:sp>
        <p:nvSpPr>
          <p:cNvPr id="7" name="Text 4"/>
          <p:cNvSpPr/>
          <p:nvPr/>
        </p:nvSpPr>
        <p:spPr>
          <a:xfrm>
            <a:off x="5299829" y="6313646"/>
            <a:ext cx="9257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9475589" y="2100024"/>
            <a:ext cx="4531876" cy="5149334"/>
          </a:xfrm>
          <a:prstGeom prst="roundRect">
            <a:avLst>
              <a:gd name="adj" fmla="val 3604"/>
            </a:avLst>
          </a:prstGeom>
          <a:solidFill>
            <a:srgbClr val="6237C8"/>
          </a:solidFill>
          <a:ln/>
        </p:spPr>
      </p:sp>
      <p:sp>
        <p:nvSpPr>
          <p:cNvPr id="9" name="Text 6"/>
          <p:cNvSpPr/>
          <p:nvPr/>
        </p:nvSpPr>
        <p:spPr>
          <a:xfrm>
            <a:off x="9702403" y="3095625"/>
            <a:ext cx="4078248" cy="935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Opportunity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9702403" y="4257794"/>
            <a:ext cx="40782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27% subscribe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despite similar average spend ($59.49 vs $59.87)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9702403" y="5187672"/>
            <a:ext cx="407824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Huge potential to convert non-subscribers and boost recurring revenue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5509"/>
            <a:ext cx="6371273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Interactive Dashboard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793790" y="24487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visualization bringing insights to life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66812"/>
            <a:ext cx="2411968" cy="24119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762268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Metrics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93790" y="628828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27% subscribed vs 73% non-subscribed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3066812"/>
            <a:ext cx="2411968" cy="24119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5762268"/>
            <a:ext cx="3180040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Category Performance</a:t>
            </a:r>
            <a:endParaRPr lang="en-US" sz="2450" dirty="0"/>
          </a:p>
        </p:txBody>
      </p:sp>
      <p:sp>
        <p:nvSpPr>
          <p:cNvPr id="9" name="Text 5"/>
          <p:cNvSpPr/>
          <p:nvPr/>
        </p:nvSpPr>
        <p:spPr>
          <a:xfrm>
            <a:off x="5235893" y="628828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 dominates with $100K revenue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3066812"/>
            <a:ext cx="2411968" cy="24119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5762268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Age Group Insights</a:t>
            </a:r>
            <a:endParaRPr lang="en-US" sz="2450" dirty="0"/>
          </a:p>
        </p:txBody>
      </p:sp>
      <p:sp>
        <p:nvSpPr>
          <p:cNvPr id="12" name="Text 7"/>
          <p:cNvSpPr/>
          <p:nvPr/>
        </p:nvSpPr>
        <p:spPr>
          <a:xfrm>
            <a:off x="9677995" y="628828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 lead revenue generation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0468"/>
            <a:ext cx="6237684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Product Insights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793790" y="1760815"/>
            <a:ext cx="4026932" cy="467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Highest Rated Products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93790" y="2908816"/>
            <a:ext cx="4196358" cy="1713190"/>
          </a:xfrm>
          <a:prstGeom prst="roundRect">
            <a:avLst>
              <a:gd name="adj" fmla="val 8540"/>
            </a:avLst>
          </a:prstGeom>
          <a:solidFill>
            <a:srgbClr val="FDFAF7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878336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6237C8"/>
          </a:solidFill>
          <a:ln/>
        </p:spPr>
      </p:sp>
      <p:sp>
        <p:nvSpPr>
          <p:cNvPr id="6" name="Shape 4"/>
          <p:cNvSpPr/>
          <p:nvPr/>
        </p:nvSpPr>
        <p:spPr>
          <a:xfrm>
            <a:off x="2551688" y="256865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6237C8"/>
          </a:solidFill>
          <a:ln/>
        </p:spPr>
      </p:sp>
      <p:sp>
        <p:nvSpPr>
          <p:cNvPr id="7" name="Text 5"/>
          <p:cNvSpPr/>
          <p:nvPr/>
        </p:nvSpPr>
        <p:spPr>
          <a:xfrm>
            <a:off x="2755761" y="273879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084" y="3475792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Gloves</a:t>
            </a:r>
            <a:endParaRPr lang="en-US" sz="2450" dirty="0"/>
          </a:p>
        </p:txBody>
      </p:sp>
      <p:sp>
        <p:nvSpPr>
          <p:cNvPr id="9" name="Text 7"/>
          <p:cNvSpPr/>
          <p:nvPr/>
        </p:nvSpPr>
        <p:spPr>
          <a:xfrm>
            <a:off x="1051084" y="400181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3.86 rating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2908816"/>
            <a:ext cx="4196358" cy="1713190"/>
          </a:xfrm>
          <a:prstGeom prst="roundRect">
            <a:avLst>
              <a:gd name="adj" fmla="val 8540"/>
            </a:avLst>
          </a:prstGeom>
          <a:solidFill>
            <a:srgbClr val="FDFAF7"/>
          </a:solidFill>
          <a:ln/>
        </p:spPr>
      </p:sp>
      <p:sp>
        <p:nvSpPr>
          <p:cNvPr id="11" name="Shape 9"/>
          <p:cNvSpPr/>
          <p:nvPr/>
        </p:nvSpPr>
        <p:spPr>
          <a:xfrm>
            <a:off x="5216962" y="2878336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6237C8"/>
          </a:solidFill>
          <a:ln/>
        </p:spPr>
      </p:sp>
      <p:sp>
        <p:nvSpPr>
          <p:cNvPr id="12" name="Shape 10"/>
          <p:cNvSpPr/>
          <p:nvPr/>
        </p:nvSpPr>
        <p:spPr>
          <a:xfrm>
            <a:off x="6974860" y="256865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6237C8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933" y="273879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74256" y="3475792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Sandals</a:t>
            </a:r>
            <a:endParaRPr lang="en-US" sz="2450" dirty="0"/>
          </a:p>
        </p:txBody>
      </p:sp>
      <p:sp>
        <p:nvSpPr>
          <p:cNvPr id="15" name="Text 13"/>
          <p:cNvSpPr/>
          <p:nvPr/>
        </p:nvSpPr>
        <p:spPr>
          <a:xfrm>
            <a:off x="5474256" y="400181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3.84 rating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0133" y="2908816"/>
            <a:ext cx="4196358" cy="1713190"/>
          </a:xfrm>
          <a:prstGeom prst="roundRect">
            <a:avLst>
              <a:gd name="adj" fmla="val 8540"/>
            </a:avLst>
          </a:prstGeom>
          <a:solidFill>
            <a:srgbClr val="FDFAF7"/>
          </a:solidFill>
          <a:ln/>
        </p:spPr>
      </p:sp>
      <p:sp>
        <p:nvSpPr>
          <p:cNvPr id="17" name="Shape 15"/>
          <p:cNvSpPr/>
          <p:nvPr/>
        </p:nvSpPr>
        <p:spPr>
          <a:xfrm>
            <a:off x="9640133" y="2878336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6237C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98032" y="256865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6237C8"/>
          </a:solidFill>
          <a:ln/>
        </p:spPr>
      </p:sp>
      <p:sp>
        <p:nvSpPr>
          <p:cNvPr id="19" name="Text 17"/>
          <p:cNvSpPr/>
          <p:nvPr/>
        </p:nvSpPr>
        <p:spPr>
          <a:xfrm>
            <a:off x="11602105" y="2738795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97427" y="3475792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Boots</a:t>
            </a:r>
            <a:endParaRPr lang="en-US" sz="2450" dirty="0"/>
          </a:p>
        </p:txBody>
      </p:sp>
      <p:sp>
        <p:nvSpPr>
          <p:cNvPr id="21" name="Text 19"/>
          <p:cNvSpPr/>
          <p:nvPr/>
        </p:nvSpPr>
        <p:spPr>
          <a:xfrm>
            <a:off x="9897427" y="4001810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3.82 rating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93790" y="4962168"/>
            <a:ext cx="4627602" cy="467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Discount-Dependent Items</a:t>
            </a:r>
            <a:endParaRPr lang="en-US" sz="2900" dirty="0"/>
          </a:p>
        </p:txBody>
      </p:sp>
      <p:sp>
        <p:nvSpPr>
          <p:cNvPr id="23" name="Shape 21"/>
          <p:cNvSpPr/>
          <p:nvPr/>
        </p:nvSpPr>
        <p:spPr>
          <a:xfrm>
            <a:off x="793790" y="5883354"/>
            <a:ext cx="3438763" cy="283488"/>
          </a:xfrm>
          <a:prstGeom prst="roundRect">
            <a:avLst>
              <a:gd name="adj" fmla="val 3360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3790" y="5883354"/>
            <a:ext cx="1719382" cy="283488"/>
          </a:xfrm>
          <a:prstGeom prst="roundRect">
            <a:avLst>
              <a:gd name="adj" fmla="val 33606"/>
            </a:avLst>
          </a:prstGeom>
          <a:solidFill>
            <a:srgbClr val="6237C8"/>
          </a:solidFill>
          <a:ln/>
        </p:spPr>
      </p:sp>
      <p:sp>
        <p:nvSpPr>
          <p:cNvPr id="25" name="Text 23"/>
          <p:cNvSpPr/>
          <p:nvPr/>
        </p:nvSpPr>
        <p:spPr>
          <a:xfrm>
            <a:off x="4402574" y="5883354"/>
            <a:ext cx="54983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50%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93790" y="6450211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Hats</a:t>
            </a:r>
            <a:endParaRPr lang="en-US" sz="2450" dirty="0"/>
          </a:p>
        </p:txBody>
      </p:sp>
      <p:sp>
        <p:nvSpPr>
          <p:cNvPr id="27" name="Text 25"/>
          <p:cNvSpPr/>
          <p:nvPr/>
        </p:nvSpPr>
        <p:spPr>
          <a:xfrm>
            <a:off x="793790" y="697622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discount rate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5235893" y="5883354"/>
            <a:ext cx="3266242" cy="283488"/>
          </a:xfrm>
          <a:prstGeom prst="roundRect">
            <a:avLst>
              <a:gd name="adj" fmla="val 3360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35893" y="5883354"/>
            <a:ext cx="1623298" cy="283488"/>
          </a:xfrm>
          <a:prstGeom prst="roundRect">
            <a:avLst>
              <a:gd name="adj" fmla="val 33606"/>
            </a:avLst>
          </a:prstGeom>
          <a:solidFill>
            <a:srgbClr val="6237C8"/>
          </a:solidFill>
          <a:ln/>
        </p:spPr>
      </p:sp>
      <p:sp>
        <p:nvSpPr>
          <p:cNvPr id="30" name="Text 28"/>
          <p:cNvSpPr/>
          <p:nvPr/>
        </p:nvSpPr>
        <p:spPr>
          <a:xfrm>
            <a:off x="8672155" y="5883354"/>
            <a:ext cx="722352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49.7%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235893" y="6450211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Sneakers</a:t>
            </a:r>
            <a:endParaRPr lang="en-US" sz="2450" dirty="0"/>
          </a:p>
        </p:txBody>
      </p:sp>
      <p:sp>
        <p:nvSpPr>
          <p:cNvPr id="32" name="Text 30"/>
          <p:cNvSpPr/>
          <p:nvPr/>
        </p:nvSpPr>
        <p:spPr>
          <a:xfrm>
            <a:off x="5235893" y="697622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Nearly half discounted</a:t>
            </a:r>
            <a:endParaRPr lang="en-US" sz="1750" dirty="0"/>
          </a:p>
        </p:txBody>
      </p:sp>
      <p:sp>
        <p:nvSpPr>
          <p:cNvPr id="33" name="Shape 31"/>
          <p:cNvSpPr/>
          <p:nvPr/>
        </p:nvSpPr>
        <p:spPr>
          <a:xfrm>
            <a:off x="9677995" y="5883354"/>
            <a:ext cx="3285530" cy="283488"/>
          </a:xfrm>
          <a:prstGeom prst="roundRect">
            <a:avLst>
              <a:gd name="adj" fmla="val 3360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77995" y="5883354"/>
            <a:ext cx="1613178" cy="283488"/>
          </a:xfrm>
          <a:prstGeom prst="roundRect">
            <a:avLst>
              <a:gd name="adj" fmla="val 33606"/>
            </a:avLst>
          </a:prstGeom>
          <a:solidFill>
            <a:srgbClr val="6237C8"/>
          </a:solidFill>
          <a:ln/>
        </p:spPr>
      </p:sp>
      <p:sp>
        <p:nvSpPr>
          <p:cNvPr id="35" name="Text 33"/>
          <p:cNvSpPr/>
          <p:nvPr/>
        </p:nvSpPr>
        <p:spPr>
          <a:xfrm>
            <a:off x="13133546" y="5883354"/>
            <a:ext cx="70306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49.1%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677995" y="6450211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Coats</a:t>
            </a:r>
            <a:endParaRPr lang="en-US" sz="2450" dirty="0"/>
          </a:p>
        </p:txBody>
      </p:sp>
      <p:sp>
        <p:nvSpPr>
          <p:cNvPr id="37" name="Text 35"/>
          <p:cNvSpPr/>
          <p:nvPr/>
        </p:nvSpPr>
        <p:spPr>
          <a:xfrm>
            <a:off x="9677995" y="697622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discount reliance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165" y="831890"/>
            <a:ext cx="1661874" cy="392549"/>
          </a:xfrm>
          <a:prstGeom prst="roundRect">
            <a:avLst>
              <a:gd name="adj" fmla="val 18249"/>
            </a:avLst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4038" y="942856"/>
            <a:ext cx="170497" cy="1704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9784" y="895826"/>
            <a:ext cx="1150382" cy="264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PLAN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46165" y="1304568"/>
            <a:ext cx="7575709" cy="73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750"/>
              </a:lnSpc>
              <a:buNone/>
            </a:pPr>
            <a:r>
              <a:rPr lang="en-US" sz="46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Strategic Recommendations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746165" y="2337911"/>
            <a:ext cx="3134201" cy="2760583"/>
          </a:xfrm>
          <a:prstGeom prst="roundRect">
            <a:avLst>
              <a:gd name="adj" fmla="val 324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66907" y="2558653"/>
            <a:ext cx="639604" cy="639604"/>
          </a:xfrm>
          <a:prstGeom prst="roundRect">
            <a:avLst>
              <a:gd name="adj" fmla="val 14294916"/>
            </a:avLst>
          </a:prstGeom>
          <a:solidFill>
            <a:srgbClr val="6237C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762" y="2734508"/>
            <a:ext cx="287774" cy="2877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6907" y="3398639"/>
            <a:ext cx="2692718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Boost Subscriptions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966907" y="3885128"/>
            <a:ext cx="2692718" cy="99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benefits to convert 73% non-subscribers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4080748" y="2337911"/>
            <a:ext cx="3134201" cy="2760583"/>
          </a:xfrm>
          <a:prstGeom prst="roundRect">
            <a:avLst>
              <a:gd name="adj" fmla="val 324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301490" y="2558653"/>
            <a:ext cx="639604" cy="639604"/>
          </a:xfrm>
          <a:prstGeom prst="roundRect">
            <a:avLst>
              <a:gd name="adj" fmla="val 14294916"/>
            </a:avLst>
          </a:prstGeom>
          <a:solidFill>
            <a:srgbClr val="6237C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7345" y="2734508"/>
            <a:ext cx="287774" cy="2877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01490" y="3398639"/>
            <a:ext cx="2692718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Loyalty Programs</a:t>
            </a:r>
            <a:endParaRPr lang="en-US" sz="2300" dirty="0"/>
          </a:p>
        </p:txBody>
      </p:sp>
      <p:sp>
        <p:nvSpPr>
          <p:cNvPr id="15" name="Text 10"/>
          <p:cNvSpPr/>
          <p:nvPr/>
        </p:nvSpPr>
        <p:spPr>
          <a:xfrm>
            <a:off x="4301490" y="3885128"/>
            <a:ext cx="2692718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grow loyal segment</a:t>
            </a:r>
            <a:endParaRPr lang="en-US" sz="1650" dirty="0"/>
          </a:p>
        </p:txBody>
      </p:sp>
      <p:sp>
        <p:nvSpPr>
          <p:cNvPr id="16" name="Shape 11"/>
          <p:cNvSpPr/>
          <p:nvPr/>
        </p:nvSpPr>
        <p:spPr>
          <a:xfrm>
            <a:off x="7415332" y="2337911"/>
            <a:ext cx="3134201" cy="2760583"/>
          </a:xfrm>
          <a:prstGeom prst="roundRect">
            <a:avLst>
              <a:gd name="adj" fmla="val 324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636073" y="2558653"/>
            <a:ext cx="639604" cy="639604"/>
          </a:xfrm>
          <a:prstGeom prst="roundRect">
            <a:avLst>
              <a:gd name="adj" fmla="val 14294916"/>
            </a:avLst>
          </a:prstGeom>
          <a:solidFill>
            <a:srgbClr val="6237C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11929" y="2734508"/>
            <a:ext cx="287774" cy="2877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36073" y="3398639"/>
            <a:ext cx="2692718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Discounts</a:t>
            </a:r>
            <a:endParaRPr lang="en-US" sz="2300" dirty="0"/>
          </a:p>
        </p:txBody>
      </p:sp>
      <p:sp>
        <p:nvSpPr>
          <p:cNvPr id="20" name="Text 14"/>
          <p:cNvSpPr/>
          <p:nvPr/>
        </p:nvSpPr>
        <p:spPr>
          <a:xfrm>
            <a:off x="7636073" y="3885128"/>
            <a:ext cx="2692718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sales boosts with margin control</a:t>
            </a:r>
            <a:endParaRPr lang="en-US" sz="1650" dirty="0"/>
          </a:p>
        </p:txBody>
      </p:sp>
      <p:sp>
        <p:nvSpPr>
          <p:cNvPr id="21" name="Shape 15"/>
          <p:cNvSpPr/>
          <p:nvPr/>
        </p:nvSpPr>
        <p:spPr>
          <a:xfrm>
            <a:off x="10749915" y="2337911"/>
            <a:ext cx="3134320" cy="2760583"/>
          </a:xfrm>
          <a:prstGeom prst="roundRect">
            <a:avLst>
              <a:gd name="adj" fmla="val 3244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0970657" y="2558653"/>
            <a:ext cx="639604" cy="639604"/>
          </a:xfrm>
          <a:prstGeom prst="roundRect">
            <a:avLst>
              <a:gd name="adj" fmla="val 14294916"/>
            </a:avLst>
          </a:prstGeom>
          <a:solidFill>
            <a:srgbClr val="6237C8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46512" y="2734508"/>
            <a:ext cx="287774" cy="28777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970657" y="3398639"/>
            <a:ext cx="2692837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Positioning</a:t>
            </a:r>
            <a:endParaRPr lang="en-US" sz="2300" dirty="0"/>
          </a:p>
        </p:txBody>
      </p:sp>
      <p:sp>
        <p:nvSpPr>
          <p:cNvPr id="25" name="Text 18"/>
          <p:cNvSpPr/>
          <p:nvPr/>
        </p:nvSpPr>
        <p:spPr>
          <a:xfrm>
            <a:off x="10970657" y="3885128"/>
            <a:ext cx="2692837" cy="66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top-rated items in campaigns</a:t>
            </a:r>
            <a:endParaRPr lang="en-US" sz="1650" dirty="0"/>
          </a:p>
        </p:txBody>
      </p:sp>
      <p:sp>
        <p:nvSpPr>
          <p:cNvPr id="26" name="Shape 19"/>
          <p:cNvSpPr/>
          <p:nvPr/>
        </p:nvSpPr>
        <p:spPr>
          <a:xfrm>
            <a:off x="746165" y="5298877"/>
            <a:ext cx="13138071" cy="2098834"/>
          </a:xfrm>
          <a:prstGeom prst="roundRect">
            <a:avLst>
              <a:gd name="adj" fmla="val 4266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966907" y="5519618"/>
            <a:ext cx="639604" cy="639604"/>
          </a:xfrm>
          <a:prstGeom prst="roundRect">
            <a:avLst>
              <a:gd name="adj" fmla="val 14294916"/>
            </a:avLst>
          </a:prstGeom>
          <a:solidFill>
            <a:srgbClr val="6237C8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2762" y="5695474"/>
            <a:ext cx="287774" cy="28777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66907" y="6359604"/>
            <a:ext cx="2931557" cy="36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Targeted Marketing</a:t>
            </a:r>
            <a:endParaRPr lang="en-US" sz="2300" dirty="0"/>
          </a:p>
        </p:txBody>
      </p:sp>
      <p:sp>
        <p:nvSpPr>
          <p:cNvPr id="30" name="Text 22"/>
          <p:cNvSpPr/>
          <p:nvPr/>
        </p:nvSpPr>
        <p:spPr>
          <a:xfrm>
            <a:off x="966907" y="6846094"/>
            <a:ext cx="12696587" cy="330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high-revenue age groups and express shipping users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2026-01-31T18:56:32Z</dcterms:created>
  <dcterms:modified xsi:type="dcterms:W3CDTF">2026-01-31T18:56:32Z</dcterms:modified>
</cp:coreProperties>
</file>